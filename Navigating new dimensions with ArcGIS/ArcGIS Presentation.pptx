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ontrail One" panose="020B0604020202020204" charset="0"/>
      <p:regular r:id="rId6"/>
    </p:embeddedFont>
    <p:embeddedFont>
      <p:font typeface="Neue Machina" panose="020B0604020202020204" charset="0"/>
      <p:regular r:id="rId7"/>
    </p:embeddedFont>
    <p:embeddedFont>
      <p:font typeface="Neue Machina Ultra-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85928" y="0"/>
            <a:ext cx="9351049" cy="10287000"/>
          </a:xfrm>
          <a:custGeom>
            <a:avLst/>
            <a:gdLst/>
            <a:ahLst/>
            <a:cxnLst/>
            <a:rect l="l" t="t" r="r" b="b"/>
            <a:pathLst>
              <a:path w="9351049" h="10287000">
                <a:moveTo>
                  <a:pt x="0" y="0"/>
                </a:moveTo>
                <a:lnTo>
                  <a:pt x="9351048" y="0"/>
                </a:lnTo>
                <a:lnTo>
                  <a:pt x="9351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18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09848" cy="10287000"/>
          </a:xfrm>
          <a:custGeom>
            <a:avLst/>
            <a:gdLst/>
            <a:ahLst/>
            <a:cxnLst/>
            <a:rect l="l" t="t" r="r" b="b"/>
            <a:pathLst>
              <a:path w="10209848" h="10287000">
                <a:moveTo>
                  <a:pt x="0" y="0"/>
                </a:moveTo>
                <a:lnTo>
                  <a:pt x="10209848" y="0"/>
                </a:lnTo>
                <a:lnTo>
                  <a:pt x="102098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72711" y="645146"/>
            <a:ext cx="14342578" cy="8996708"/>
          </a:xfrm>
          <a:custGeom>
            <a:avLst/>
            <a:gdLst/>
            <a:ahLst/>
            <a:cxnLst/>
            <a:rect l="l" t="t" r="r" b="b"/>
            <a:pathLst>
              <a:path w="14342578" h="8996708">
                <a:moveTo>
                  <a:pt x="0" y="0"/>
                </a:moveTo>
                <a:lnTo>
                  <a:pt x="14342578" y="0"/>
                </a:lnTo>
                <a:lnTo>
                  <a:pt x="14342578" y="8996708"/>
                </a:lnTo>
                <a:lnTo>
                  <a:pt x="0" y="899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196796" y="5944067"/>
            <a:ext cx="4064430" cy="1335564"/>
            <a:chOff x="0" y="0"/>
            <a:chExt cx="1696095" cy="5573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6096" cy="557334"/>
            </a:xfrm>
            <a:custGeom>
              <a:avLst/>
              <a:gdLst/>
              <a:ahLst/>
              <a:cxnLst/>
              <a:rect l="l" t="t" r="r" b="b"/>
              <a:pathLst>
                <a:path w="1696096" h="557334">
                  <a:moveTo>
                    <a:pt x="1492895" y="0"/>
                  </a:moveTo>
                  <a:cubicBezTo>
                    <a:pt x="1605120" y="0"/>
                    <a:pt x="1696096" y="124763"/>
                    <a:pt x="1696096" y="278667"/>
                  </a:cubicBezTo>
                  <a:cubicBezTo>
                    <a:pt x="1696096" y="432570"/>
                    <a:pt x="1605120" y="557334"/>
                    <a:pt x="1492895" y="557334"/>
                  </a:cubicBezTo>
                  <a:lnTo>
                    <a:pt x="203200" y="557334"/>
                  </a:lnTo>
                  <a:cubicBezTo>
                    <a:pt x="90976" y="557334"/>
                    <a:pt x="0" y="432570"/>
                    <a:pt x="0" y="278667"/>
                  </a:cubicBezTo>
                  <a:cubicBezTo>
                    <a:pt x="0" y="1247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AD44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6095" cy="614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Contrail One"/>
                </a:rPr>
                <a:t>SUDHANSHU MUKHERJEE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04924" y="3443836"/>
            <a:ext cx="8248174" cy="206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2"/>
              </a:lnSpc>
            </a:pPr>
            <a:r>
              <a:rPr lang="en-US" sz="5462">
                <a:solidFill>
                  <a:srgbClr val="FFFFFF"/>
                </a:solidFill>
                <a:latin typeface="Contrail One"/>
              </a:rPr>
              <a:t>MAPPING THE FUTURE: NAVIGATING NEW DIMENSIONS WITH ARCGIS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63974"/>
            <a:ext cx="9284177" cy="7394326"/>
            <a:chOff x="0" y="0"/>
            <a:chExt cx="2665424" cy="2122860"/>
          </a:xfrm>
        </p:grpSpPr>
        <p:sp>
          <p:nvSpPr>
            <p:cNvPr id="3" name="Freeform 3"/>
            <p:cNvSpPr/>
            <p:nvPr/>
          </p:nvSpPr>
          <p:spPr>
            <a:xfrm>
              <a:off x="41910" y="43180"/>
              <a:ext cx="2617164" cy="2074600"/>
            </a:xfrm>
            <a:custGeom>
              <a:avLst/>
              <a:gdLst/>
              <a:ahLst/>
              <a:cxnLst/>
              <a:rect l="l" t="t" r="r" b="b"/>
              <a:pathLst>
                <a:path w="2617164" h="2074600">
                  <a:moveTo>
                    <a:pt x="0" y="0"/>
                  </a:moveTo>
                  <a:lnTo>
                    <a:pt x="2617164" y="0"/>
                  </a:lnTo>
                  <a:lnTo>
                    <a:pt x="2617164" y="2074600"/>
                  </a:lnTo>
                  <a:lnTo>
                    <a:pt x="0" y="2074600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5560" y="35560"/>
              <a:ext cx="2629864" cy="2087300"/>
            </a:xfrm>
            <a:custGeom>
              <a:avLst/>
              <a:gdLst/>
              <a:ahLst/>
              <a:cxnLst/>
              <a:rect l="l" t="t" r="r" b="b"/>
              <a:pathLst>
                <a:path w="2629864" h="2087300">
                  <a:moveTo>
                    <a:pt x="2629864" y="2087300"/>
                  </a:moveTo>
                  <a:lnTo>
                    <a:pt x="0" y="2087300"/>
                  </a:lnTo>
                  <a:lnTo>
                    <a:pt x="0" y="0"/>
                  </a:lnTo>
                  <a:lnTo>
                    <a:pt x="2629864" y="0"/>
                  </a:lnTo>
                  <a:lnTo>
                    <a:pt x="2629864" y="2087300"/>
                  </a:lnTo>
                  <a:close/>
                  <a:moveTo>
                    <a:pt x="12700" y="2074600"/>
                  </a:moveTo>
                  <a:lnTo>
                    <a:pt x="2617164" y="2074600"/>
                  </a:lnTo>
                  <a:lnTo>
                    <a:pt x="2617164" y="12700"/>
                  </a:lnTo>
                  <a:lnTo>
                    <a:pt x="12700" y="12700"/>
                  </a:lnTo>
                  <a:lnTo>
                    <a:pt x="12700" y="2074600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617164" cy="2074600"/>
            </a:xfrm>
            <a:custGeom>
              <a:avLst/>
              <a:gdLst/>
              <a:ahLst/>
              <a:cxnLst/>
              <a:rect l="l" t="t" r="r" b="b"/>
              <a:pathLst>
                <a:path w="2617164" h="2074600">
                  <a:moveTo>
                    <a:pt x="0" y="0"/>
                  </a:moveTo>
                  <a:lnTo>
                    <a:pt x="2617164" y="0"/>
                  </a:lnTo>
                  <a:lnTo>
                    <a:pt x="2617164" y="2074600"/>
                  </a:lnTo>
                  <a:lnTo>
                    <a:pt x="0" y="2074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21380" y="1863974"/>
            <a:ext cx="6789436" cy="7394326"/>
            <a:chOff x="0" y="0"/>
            <a:chExt cx="1949201" cy="2122860"/>
          </a:xfrm>
        </p:grpSpPr>
        <p:sp>
          <p:nvSpPr>
            <p:cNvPr id="7" name="Freeform 7"/>
            <p:cNvSpPr/>
            <p:nvPr/>
          </p:nvSpPr>
          <p:spPr>
            <a:xfrm>
              <a:off x="41910" y="43180"/>
              <a:ext cx="1900941" cy="2074600"/>
            </a:xfrm>
            <a:custGeom>
              <a:avLst/>
              <a:gdLst/>
              <a:ahLst/>
              <a:cxnLst/>
              <a:rect l="l" t="t" r="r" b="b"/>
              <a:pathLst>
                <a:path w="1900941" h="2074600">
                  <a:moveTo>
                    <a:pt x="0" y="0"/>
                  </a:moveTo>
                  <a:lnTo>
                    <a:pt x="1900941" y="0"/>
                  </a:lnTo>
                  <a:lnTo>
                    <a:pt x="1900941" y="2074600"/>
                  </a:lnTo>
                  <a:lnTo>
                    <a:pt x="0" y="2074600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5560" y="35560"/>
              <a:ext cx="1913641" cy="2087300"/>
            </a:xfrm>
            <a:custGeom>
              <a:avLst/>
              <a:gdLst/>
              <a:ahLst/>
              <a:cxnLst/>
              <a:rect l="l" t="t" r="r" b="b"/>
              <a:pathLst>
                <a:path w="1913641" h="2087300">
                  <a:moveTo>
                    <a:pt x="1913641" y="2087300"/>
                  </a:moveTo>
                  <a:lnTo>
                    <a:pt x="0" y="2087300"/>
                  </a:lnTo>
                  <a:lnTo>
                    <a:pt x="0" y="0"/>
                  </a:lnTo>
                  <a:lnTo>
                    <a:pt x="1913641" y="0"/>
                  </a:lnTo>
                  <a:lnTo>
                    <a:pt x="1913641" y="2087300"/>
                  </a:lnTo>
                  <a:close/>
                  <a:moveTo>
                    <a:pt x="12700" y="2074600"/>
                  </a:moveTo>
                  <a:lnTo>
                    <a:pt x="1900941" y="2074600"/>
                  </a:lnTo>
                  <a:lnTo>
                    <a:pt x="1900941" y="12700"/>
                  </a:lnTo>
                  <a:lnTo>
                    <a:pt x="12700" y="12700"/>
                  </a:lnTo>
                  <a:lnTo>
                    <a:pt x="12700" y="2074600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900941" cy="2074600"/>
            </a:xfrm>
            <a:custGeom>
              <a:avLst/>
              <a:gdLst/>
              <a:ahLst/>
              <a:cxnLst/>
              <a:rect l="l" t="t" r="r" b="b"/>
              <a:pathLst>
                <a:path w="1900941" h="2074600">
                  <a:moveTo>
                    <a:pt x="0" y="0"/>
                  </a:moveTo>
                  <a:lnTo>
                    <a:pt x="1900941" y="0"/>
                  </a:lnTo>
                  <a:lnTo>
                    <a:pt x="1900941" y="2074600"/>
                  </a:lnTo>
                  <a:lnTo>
                    <a:pt x="0" y="2074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028700" y="770894"/>
            <a:ext cx="2835871" cy="515613"/>
          </a:xfrm>
          <a:custGeom>
            <a:avLst/>
            <a:gdLst/>
            <a:ahLst/>
            <a:cxnLst/>
            <a:rect l="l" t="t" r="r" b="b"/>
            <a:pathLst>
              <a:path w="2835871" h="515613">
                <a:moveTo>
                  <a:pt x="0" y="0"/>
                </a:moveTo>
                <a:lnTo>
                  <a:pt x="2835871" y="0"/>
                </a:lnTo>
                <a:lnTo>
                  <a:pt x="2835871" y="515612"/>
                </a:lnTo>
                <a:lnTo>
                  <a:pt x="0" y="515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4449723" y="770894"/>
            <a:ext cx="2809577" cy="730490"/>
            <a:chOff x="0" y="0"/>
            <a:chExt cx="3746102" cy="9739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487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0" y="0"/>
                  </a:lnTo>
                  <a:lnTo>
                    <a:pt x="1248700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4974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1048747" y="2291976"/>
            <a:ext cx="6134703" cy="3680822"/>
          </a:xfrm>
          <a:custGeom>
            <a:avLst/>
            <a:gdLst/>
            <a:ahLst/>
            <a:cxnLst/>
            <a:rect l="l" t="t" r="r" b="b"/>
            <a:pathLst>
              <a:path w="6134703" h="3680822">
                <a:moveTo>
                  <a:pt x="0" y="0"/>
                </a:moveTo>
                <a:lnTo>
                  <a:pt x="6134703" y="0"/>
                </a:lnTo>
                <a:lnTo>
                  <a:pt x="6134703" y="3680822"/>
                </a:lnTo>
                <a:lnTo>
                  <a:pt x="0" y="3680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048747" y="5939681"/>
            <a:ext cx="6134703" cy="3067352"/>
          </a:xfrm>
          <a:custGeom>
            <a:avLst/>
            <a:gdLst/>
            <a:ahLst/>
            <a:cxnLst/>
            <a:rect l="l" t="t" r="r" b="b"/>
            <a:pathLst>
              <a:path w="6134703" h="3067352">
                <a:moveTo>
                  <a:pt x="0" y="0"/>
                </a:moveTo>
                <a:lnTo>
                  <a:pt x="6134703" y="0"/>
                </a:lnTo>
                <a:lnTo>
                  <a:pt x="6134703" y="3067351"/>
                </a:lnTo>
                <a:lnTo>
                  <a:pt x="0" y="30673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28370" y="2397374"/>
            <a:ext cx="8284837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000000"/>
                </a:solidFill>
                <a:latin typeface="Neue Machina Bold"/>
              </a:rPr>
              <a:t>What is GIS?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8370" y="3816599"/>
            <a:ext cx="8284837" cy="519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8"/>
              </a:lnSpc>
            </a:pPr>
            <a:r>
              <a:rPr lang="en-US" sz="2277">
                <a:solidFill>
                  <a:srgbClr val="000000"/>
                </a:solidFill>
                <a:latin typeface="Neue Machina"/>
              </a:rPr>
              <a:t>A geographic information system (GIS) integrates hardware, software, and data for capturing, managing, analyzing, and displaying all forms of geographically referenced information.</a:t>
            </a:r>
          </a:p>
          <a:p>
            <a:pPr algn="ctr">
              <a:lnSpc>
                <a:spcPts val="3188"/>
              </a:lnSpc>
            </a:pPr>
            <a:endParaRPr lang="en-US" sz="2277">
              <a:solidFill>
                <a:srgbClr val="000000"/>
              </a:solidFill>
              <a:latin typeface="Neue Machina"/>
            </a:endParaRPr>
          </a:p>
          <a:p>
            <a:pPr algn="ctr">
              <a:lnSpc>
                <a:spcPts val="3188"/>
              </a:lnSpc>
            </a:pPr>
            <a:r>
              <a:rPr lang="en-US" sz="2277">
                <a:solidFill>
                  <a:srgbClr val="000000"/>
                </a:solidFill>
                <a:latin typeface="Neue Machina"/>
              </a:rPr>
              <a:t>GIS allows us to view, understand, question, interpret, and visualize data in many ways that reveal relationships, patterns, and trends in the form of maps, globes, reports, and charts.</a:t>
            </a:r>
          </a:p>
          <a:p>
            <a:pPr algn="ctr">
              <a:lnSpc>
                <a:spcPts val="3188"/>
              </a:lnSpc>
            </a:pPr>
            <a:endParaRPr lang="en-US" sz="2277">
              <a:solidFill>
                <a:srgbClr val="000000"/>
              </a:solidFill>
              <a:latin typeface="Neue Machina"/>
            </a:endParaRPr>
          </a:p>
          <a:p>
            <a:pPr marL="0" lvl="0" indent="0" algn="ctr">
              <a:lnSpc>
                <a:spcPts val="3188"/>
              </a:lnSpc>
              <a:spcBef>
                <a:spcPct val="0"/>
              </a:spcBef>
            </a:pPr>
            <a:r>
              <a:rPr lang="en-US" sz="2277">
                <a:solidFill>
                  <a:srgbClr val="000000"/>
                </a:solidFill>
                <a:latin typeface="Neue Machina"/>
              </a:rPr>
              <a:t>A GIS helps you answer questions and solve problems by looking at your data in a way that is quickly understood and easily shared.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996107"/>
            <a:ext cx="16230600" cy="5000768"/>
            <a:chOff x="0" y="0"/>
            <a:chExt cx="4659694" cy="1435686"/>
          </a:xfrm>
        </p:grpSpPr>
        <p:sp>
          <p:nvSpPr>
            <p:cNvPr id="3" name="Freeform 3"/>
            <p:cNvSpPr/>
            <p:nvPr/>
          </p:nvSpPr>
          <p:spPr>
            <a:xfrm>
              <a:off x="41910" y="43180"/>
              <a:ext cx="4611434" cy="1387426"/>
            </a:xfrm>
            <a:custGeom>
              <a:avLst/>
              <a:gdLst/>
              <a:ahLst/>
              <a:cxnLst/>
              <a:rect l="l" t="t" r="r" b="b"/>
              <a:pathLst>
                <a:path w="4611434" h="1387426">
                  <a:moveTo>
                    <a:pt x="0" y="0"/>
                  </a:moveTo>
                  <a:lnTo>
                    <a:pt x="4611434" y="0"/>
                  </a:lnTo>
                  <a:lnTo>
                    <a:pt x="4611434" y="1387426"/>
                  </a:lnTo>
                  <a:lnTo>
                    <a:pt x="0" y="1387426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5560" y="35560"/>
              <a:ext cx="4624134" cy="1400126"/>
            </a:xfrm>
            <a:custGeom>
              <a:avLst/>
              <a:gdLst/>
              <a:ahLst/>
              <a:cxnLst/>
              <a:rect l="l" t="t" r="r" b="b"/>
              <a:pathLst>
                <a:path w="4624134" h="1400126">
                  <a:moveTo>
                    <a:pt x="4624134" y="1400126"/>
                  </a:moveTo>
                  <a:lnTo>
                    <a:pt x="0" y="1400126"/>
                  </a:lnTo>
                  <a:lnTo>
                    <a:pt x="0" y="0"/>
                  </a:lnTo>
                  <a:lnTo>
                    <a:pt x="4624134" y="0"/>
                  </a:lnTo>
                  <a:lnTo>
                    <a:pt x="4624134" y="1400126"/>
                  </a:lnTo>
                  <a:close/>
                  <a:moveTo>
                    <a:pt x="12700" y="1387426"/>
                  </a:moveTo>
                  <a:lnTo>
                    <a:pt x="4611434" y="1387426"/>
                  </a:lnTo>
                  <a:lnTo>
                    <a:pt x="4611434" y="12700"/>
                  </a:lnTo>
                  <a:lnTo>
                    <a:pt x="12700" y="12700"/>
                  </a:lnTo>
                  <a:lnTo>
                    <a:pt x="12700" y="1387426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4611434" cy="1387426"/>
            </a:xfrm>
            <a:custGeom>
              <a:avLst/>
              <a:gdLst/>
              <a:ahLst/>
              <a:cxnLst/>
              <a:rect l="l" t="t" r="r" b="b"/>
              <a:pathLst>
                <a:path w="4611434" h="1387426">
                  <a:moveTo>
                    <a:pt x="0" y="0"/>
                  </a:moveTo>
                  <a:lnTo>
                    <a:pt x="4611434" y="0"/>
                  </a:lnTo>
                  <a:lnTo>
                    <a:pt x="4611434" y="1387426"/>
                  </a:lnTo>
                  <a:lnTo>
                    <a:pt x="0" y="138742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1778485"/>
            <a:ext cx="16230600" cy="1955402"/>
            <a:chOff x="0" y="0"/>
            <a:chExt cx="4659694" cy="561383"/>
          </a:xfrm>
        </p:grpSpPr>
        <p:sp>
          <p:nvSpPr>
            <p:cNvPr id="7" name="Freeform 7"/>
            <p:cNvSpPr/>
            <p:nvPr/>
          </p:nvSpPr>
          <p:spPr>
            <a:xfrm>
              <a:off x="41910" y="43180"/>
              <a:ext cx="4611434" cy="513123"/>
            </a:xfrm>
            <a:custGeom>
              <a:avLst/>
              <a:gdLst/>
              <a:ahLst/>
              <a:cxnLst/>
              <a:rect l="l" t="t" r="r" b="b"/>
              <a:pathLst>
                <a:path w="4611434" h="513123">
                  <a:moveTo>
                    <a:pt x="0" y="0"/>
                  </a:moveTo>
                  <a:lnTo>
                    <a:pt x="4611434" y="0"/>
                  </a:lnTo>
                  <a:lnTo>
                    <a:pt x="4611434" y="513123"/>
                  </a:lnTo>
                  <a:lnTo>
                    <a:pt x="0" y="513123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5560" y="35560"/>
              <a:ext cx="4624134" cy="525823"/>
            </a:xfrm>
            <a:custGeom>
              <a:avLst/>
              <a:gdLst/>
              <a:ahLst/>
              <a:cxnLst/>
              <a:rect l="l" t="t" r="r" b="b"/>
              <a:pathLst>
                <a:path w="4624134" h="525823">
                  <a:moveTo>
                    <a:pt x="4624134" y="525823"/>
                  </a:moveTo>
                  <a:lnTo>
                    <a:pt x="0" y="525823"/>
                  </a:lnTo>
                  <a:lnTo>
                    <a:pt x="0" y="0"/>
                  </a:lnTo>
                  <a:lnTo>
                    <a:pt x="4624134" y="0"/>
                  </a:lnTo>
                  <a:lnTo>
                    <a:pt x="4624134" y="525823"/>
                  </a:lnTo>
                  <a:close/>
                  <a:moveTo>
                    <a:pt x="12700" y="513123"/>
                  </a:moveTo>
                  <a:lnTo>
                    <a:pt x="4611434" y="513123"/>
                  </a:lnTo>
                  <a:lnTo>
                    <a:pt x="4611434" y="12700"/>
                  </a:lnTo>
                  <a:lnTo>
                    <a:pt x="12700" y="12700"/>
                  </a:lnTo>
                  <a:lnTo>
                    <a:pt x="12700" y="513123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611434" cy="513123"/>
            </a:xfrm>
            <a:custGeom>
              <a:avLst/>
              <a:gdLst/>
              <a:ahLst/>
              <a:cxnLst/>
              <a:rect l="l" t="t" r="r" b="b"/>
              <a:pathLst>
                <a:path w="4611434" h="513123">
                  <a:moveTo>
                    <a:pt x="0" y="0"/>
                  </a:moveTo>
                  <a:lnTo>
                    <a:pt x="4611434" y="0"/>
                  </a:lnTo>
                  <a:lnTo>
                    <a:pt x="4611434" y="513123"/>
                  </a:lnTo>
                  <a:lnTo>
                    <a:pt x="0" y="5131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3035012" y="5148262"/>
            <a:ext cx="12200778" cy="476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2873087" y="4981575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886038" y="4972050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898990" y="4972050"/>
            <a:ext cx="323850" cy="323850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4911941" y="4972050"/>
            <a:ext cx="323850" cy="323850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352550" y="2241911"/>
            <a:ext cx="15565703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Neue Machina Ultra-Bold"/>
              </a:rPr>
              <a:t>So, What can you do with GIS?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2550" y="5991225"/>
            <a:ext cx="336492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Map where this things 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65501" y="5991225"/>
            <a:ext cx="33649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Map Quantities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91403" y="5991225"/>
            <a:ext cx="33649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Map Change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8452" y="5991225"/>
            <a:ext cx="33649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Map Densities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423429" y="770894"/>
            <a:ext cx="2835871" cy="515613"/>
          </a:xfrm>
          <a:custGeom>
            <a:avLst/>
            <a:gdLst/>
            <a:ahLst/>
            <a:cxnLst/>
            <a:rect l="l" t="t" r="r" b="b"/>
            <a:pathLst>
              <a:path w="2835871" h="515613">
                <a:moveTo>
                  <a:pt x="0" y="0"/>
                </a:moveTo>
                <a:lnTo>
                  <a:pt x="2835871" y="0"/>
                </a:lnTo>
                <a:lnTo>
                  <a:pt x="2835871" y="515612"/>
                </a:lnTo>
                <a:lnTo>
                  <a:pt x="0" y="515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8700" y="770894"/>
            <a:ext cx="2835871" cy="515613"/>
          </a:xfrm>
          <a:custGeom>
            <a:avLst/>
            <a:gdLst/>
            <a:ahLst/>
            <a:cxnLst/>
            <a:rect l="l" t="t" r="r" b="b"/>
            <a:pathLst>
              <a:path w="2835871" h="515613">
                <a:moveTo>
                  <a:pt x="0" y="0"/>
                </a:moveTo>
                <a:lnTo>
                  <a:pt x="2835871" y="0"/>
                </a:lnTo>
                <a:lnTo>
                  <a:pt x="2835871" y="515612"/>
                </a:lnTo>
                <a:lnTo>
                  <a:pt x="0" y="515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863562" y="6915591"/>
            <a:ext cx="323850" cy="323850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889465" y="6906066"/>
            <a:ext cx="323850" cy="323850"/>
            <a:chOff x="0" y="0"/>
            <a:chExt cx="6350000" cy="635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4902416" y="6906066"/>
            <a:ext cx="323850" cy="323850"/>
            <a:chOff x="0" y="0"/>
            <a:chExt cx="635000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343025" y="7725216"/>
            <a:ext cx="336492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Combine Datasets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65501" y="7472875"/>
            <a:ext cx="3364925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Find what’s inside and what’s nearby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9689" y="7419975"/>
            <a:ext cx="4012951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eue Machina"/>
              </a:rPr>
              <a:t>allows analysis of the relationships between layers</a:t>
            </a:r>
          </a:p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Neue Machina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6924138" y="6906066"/>
            <a:ext cx="323850" cy="323850"/>
            <a:chOff x="0" y="0"/>
            <a:chExt cx="6350000" cy="6350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7" name="AutoShape 37"/>
          <p:cNvSpPr/>
          <p:nvPr/>
        </p:nvSpPr>
        <p:spPr>
          <a:xfrm>
            <a:off x="2996910" y="7075135"/>
            <a:ext cx="12200778" cy="476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A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5231" y="1028700"/>
            <a:ext cx="8244069" cy="8229600"/>
            <a:chOff x="0" y="0"/>
            <a:chExt cx="2366816" cy="2362662"/>
          </a:xfrm>
        </p:grpSpPr>
        <p:sp>
          <p:nvSpPr>
            <p:cNvPr id="3" name="Freeform 3"/>
            <p:cNvSpPr/>
            <p:nvPr/>
          </p:nvSpPr>
          <p:spPr>
            <a:xfrm>
              <a:off x="41910" y="43180"/>
              <a:ext cx="2318556" cy="2314402"/>
            </a:xfrm>
            <a:custGeom>
              <a:avLst/>
              <a:gdLst/>
              <a:ahLst/>
              <a:cxnLst/>
              <a:rect l="l" t="t" r="r" b="b"/>
              <a:pathLst>
                <a:path w="2318556" h="2314402">
                  <a:moveTo>
                    <a:pt x="0" y="0"/>
                  </a:moveTo>
                  <a:lnTo>
                    <a:pt x="2318556" y="0"/>
                  </a:lnTo>
                  <a:lnTo>
                    <a:pt x="2318556" y="2314402"/>
                  </a:lnTo>
                  <a:lnTo>
                    <a:pt x="0" y="2314402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5560" y="35560"/>
              <a:ext cx="2331256" cy="2327102"/>
            </a:xfrm>
            <a:custGeom>
              <a:avLst/>
              <a:gdLst/>
              <a:ahLst/>
              <a:cxnLst/>
              <a:rect l="l" t="t" r="r" b="b"/>
              <a:pathLst>
                <a:path w="2331256" h="2327102">
                  <a:moveTo>
                    <a:pt x="2331256" y="2327102"/>
                  </a:moveTo>
                  <a:lnTo>
                    <a:pt x="0" y="2327102"/>
                  </a:lnTo>
                  <a:lnTo>
                    <a:pt x="0" y="0"/>
                  </a:lnTo>
                  <a:lnTo>
                    <a:pt x="2331256" y="0"/>
                  </a:lnTo>
                  <a:lnTo>
                    <a:pt x="2331256" y="2327102"/>
                  </a:lnTo>
                  <a:close/>
                  <a:moveTo>
                    <a:pt x="12700" y="2314402"/>
                  </a:moveTo>
                  <a:lnTo>
                    <a:pt x="2318556" y="2314402"/>
                  </a:lnTo>
                  <a:lnTo>
                    <a:pt x="2318556" y="12700"/>
                  </a:lnTo>
                  <a:lnTo>
                    <a:pt x="12700" y="12700"/>
                  </a:lnTo>
                  <a:lnTo>
                    <a:pt x="12700" y="2314402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318556" cy="2314402"/>
            </a:xfrm>
            <a:custGeom>
              <a:avLst/>
              <a:gdLst/>
              <a:ahLst/>
              <a:cxnLst/>
              <a:rect l="l" t="t" r="r" b="b"/>
              <a:pathLst>
                <a:path w="2318556" h="2314402">
                  <a:moveTo>
                    <a:pt x="0" y="0"/>
                  </a:moveTo>
                  <a:lnTo>
                    <a:pt x="2318556" y="0"/>
                  </a:lnTo>
                  <a:lnTo>
                    <a:pt x="2318556" y="2314402"/>
                  </a:lnTo>
                  <a:lnTo>
                    <a:pt x="0" y="231440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2208279"/>
            <a:ext cx="7545701" cy="7050021"/>
            <a:chOff x="0" y="0"/>
            <a:chExt cx="2166319" cy="2024013"/>
          </a:xfrm>
        </p:grpSpPr>
        <p:sp>
          <p:nvSpPr>
            <p:cNvPr id="7" name="Freeform 7"/>
            <p:cNvSpPr/>
            <p:nvPr/>
          </p:nvSpPr>
          <p:spPr>
            <a:xfrm>
              <a:off x="41910" y="43180"/>
              <a:ext cx="2118059" cy="1975753"/>
            </a:xfrm>
            <a:custGeom>
              <a:avLst/>
              <a:gdLst/>
              <a:ahLst/>
              <a:cxnLst/>
              <a:rect l="l" t="t" r="r" b="b"/>
              <a:pathLst>
                <a:path w="2118059" h="1975753">
                  <a:moveTo>
                    <a:pt x="0" y="0"/>
                  </a:moveTo>
                  <a:lnTo>
                    <a:pt x="2118059" y="0"/>
                  </a:lnTo>
                  <a:lnTo>
                    <a:pt x="2118059" y="1975753"/>
                  </a:lnTo>
                  <a:lnTo>
                    <a:pt x="0" y="1975753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5560" y="35560"/>
              <a:ext cx="2130759" cy="1988453"/>
            </a:xfrm>
            <a:custGeom>
              <a:avLst/>
              <a:gdLst/>
              <a:ahLst/>
              <a:cxnLst/>
              <a:rect l="l" t="t" r="r" b="b"/>
              <a:pathLst>
                <a:path w="2130759" h="1988453">
                  <a:moveTo>
                    <a:pt x="2130759" y="1988453"/>
                  </a:moveTo>
                  <a:lnTo>
                    <a:pt x="0" y="1988453"/>
                  </a:lnTo>
                  <a:lnTo>
                    <a:pt x="0" y="0"/>
                  </a:lnTo>
                  <a:lnTo>
                    <a:pt x="2130759" y="0"/>
                  </a:lnTo>
                  <a:lnTo>
                    <a:pt x="2130759" y="1988453"/>
                  </a:lnTo>
                  <a:close/>
                  <a:moveTo>
                    <a:pt x="12700" y="1975753"/>
                  </a:moveTo>
                  <a:lnTo>
                    <a:pt x="2118059" y="1975753"/>
                  </a:lnTo>
                  <a:lnTo>
                    <a:pt x="2118059" y="12700"/>
                  </a:lnTo>
                  <a:lnTo>
                    <a:pt x="12700" y="12700"/>
                  </a:lnTo>
                  <a:lnTo>
                    <a:pt x="12700" y="1975753"/>
                  </a:lnTo>
                  <a:close/>
                </a:path>
              </a:pathLst>
            </a:custGeom>
            <a:solidFill>
              <a:srgbClr val="50733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118059" cy="1975753"/>
            </a:xfrm>
            <a:custGeom>
              <a:avLst/>
              <a:gdLst/>
              <a:ahLst/>
              <a:cxnLst/>
              <a:rect l="l" t="t" r="r" b="b"/>
              <a:pathLst>
                <a:path w="2118059" h="1975753">
                  <a:moveTo>
                    <a:pt x="0" y="0"/>
                  </a:moveTo>
                  <a:lnTo>
                    <a:pt x="2118059" y="0"/>
                  </a:lnTo>
                  <a:lnTo>
                    <a:pt x="2118059" y="1975753"/>
                  </a:lnTo>
                  <a:lnTo>
                    <a:pt x="0" y="19757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345820" y="1028700"/>
            <a:ext cx="2809577" cy="730490"/>
            <a:chOff x="0" y="0"/>
            <a:chExt cx="3746102" cy="973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487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0" y="0"/>
                  </a:lnTo>
                  <a:lnTo>
                    <a:pt x="1248700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497401" y="0"/>
              <a:ext cx="1248701" cy="973987"/>
            </a:xfrm>
            <a:custGeom>
              <a:avLst/>
              <a:gdLst/>
              <a:ahLst/>
              <a:cxnLst/>
              <a:rect l="l" t="t" r="r" b="b"/>
              <a:pathLst>
                <a:path w="1248701" h="973987">
                  <a:moveTo>
                    <a:pt x="0" y="0"/>
                  </a:moveTo>
                  <a:lnTo>
                    <a:pt x="1248701" y="0"/>
                  </a:lnTo>
                  <a:lnTo>
                    <a:pt x="1248701" y="973987"/>
                  </a:lnTo>
                  <a:lnTo>
                    <a:pt x="0" y="973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0151930" y="2158165"/>
            <a:ext cx="5970671" cy="597067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978518" y="4391575"/>
            <a:ext cx="5646066" cy="2683428"/>
            <a:chOff x="0" y="0"/>
            <a:chExt cx="7528087" cy="357790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7528087" cy="266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00"/>
                </a:lnSpc>
                <a:spcBef>
                  <a:spcPct val="0"/>
                </a:spcBef>
              </a:pPr>
              <a:r>
                <a:rPr lang="en-US" sz="6500">
                  <a:solidFill>
                    <a:srgbClr val="000000"/>
                  </a:solidFill>
                  <a:latin typeface="Neue Machina Ultra-Bold"/>
                </a:rPr>
                <a:t>ArcGIS Online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999207"/>
              <a:ext cx="7528087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Neue Machina"/>
                </a:rPr>
                <a:t>We are going to learn this tool.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154</Words>
  <Application>Microsoft Office PowerPoint</Application>
  <PresentationFormat>Custom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Contrail One</vt:lpstr>
      <vt:lpstr>Neue Machina Bold</vt:lpstr>
      <vt:lpstr>Neue Machina</vt:lpstr>
      <vt:lpstr>Arial</vt:lpstr>
      <vt:lpstr>Calibri</vt:lpstr>
      <vt:lpstr>Neue Machina Ultra-Bold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Green Digitalism Basic Simple Presentation</dc:title>
  <dc:creator>Asus</dc:creator>
  <cp:lastModifiedBy>Sudhanshu Mukherjee</cp:lastModifiedBy>
  <cp:revision>1</cp:revision>
  <dcterms:created xsi:type="dcterms:W3CDTF">2006-08-16T00:00:00Z</dcterms:created>
  <dcterms:modified xsi:type="dcterms:W3CDTF">2024-04-23T19:39:24Z</dcterms:modified>
  <dc:identifier>DAGDQd9iqUI</dc:identifier>
</cp:coreProperties>
</file>